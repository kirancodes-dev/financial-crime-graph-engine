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SANJAY GHODAWAT UNIVERSITY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School of Technology | Department of Computer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1F5F9"/>
                </a:solidFill>
                <a:latin typeface="Trebuchet MS"/>
              </a:defRPr>
            </a:pPr>
            <a:r>
              <a:t>FINANCIAL CRIME GRAPH ENGINE</a:t>
            </a:r>
          </a:p>
          <a:p>
            <a:pPr>
              <a:spcBef>
                <a:spcPts val="800"/>
              </a:spcBef>
              <a:defRPr sz="2000">
                <a:solidFill>
                  <a:srgbClr val="06B6D4"/>
                </a:solidFill>
                <a:latin typeface="Trebuchet MS"/>
              </a:defRPr>
            </a:pPr>
            <a:r>
              <a:t>Topological Fraud Analysis Heuristics &amp; Forensic AI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41148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Trebuchet MS"/>
              </a:defRPr>
            </a:pPr>
            <a:r>
              <a:t>PROJECT DEVELOPMENT TEAM: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1. Kiran MB - 24SUUBECS0937 (Core Heuristics &amp; Graph Traversal)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2. Kiran S Lamani - 24SUUBECS0941 (Database Schema &amp; Ledger Sync)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3. Keerthi V Meharwade - 24SUUBECS0927 (React Cytoscape Graph UI)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4. Kiranmayi - 24SUUBECS0943 (Forensic AI &amp; Gemini Report Engine)</a:t>
            </a:r>
          </a:p>
          <a:p>
            <a:pPr>
              <a:spcBef>
                <a:spcPts val="1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Evaluation Jury Academic Presentation | Academic Year: 2025 - 2026</a:t>
            </a:r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404" y="3657600"/>
            <a:ext cx="446177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Trebuchet MS"/>
              </a:defRPr>
            </a:pPr>
            <a:r>
              <a:t>PLATFORM WORKSPACE &amp; DASHBOARD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Visual Interface and Core Web Workspace Showcase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828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[ Side Control Panel ]</a:t>
            </a:r>
            <a:br/>
            <a:br/>
            <a:r>
              <a:t>+ Ingestion Handler</a:t>
            </a:r>
            <a:br/>
            <a:r>
              <a:t>  - Upload CSV Ledger</a:t>
            </a:r>
            <a:br/>
            <a:br/>
            <a:r>
              <a:t>+ Algorithmic Filters</a:t>
            </a:r>
            <a:br/>
            <a:r>
              <a:t>  - Cyclic Wash</a:t>
            </a:r>
            <a:br/>
            <a:r>
              <a:t>  - Velocity Burst</a:t>
            </a:r>
            <a:br/>
            <a:r>
              <a:t>  - Round-Trip</a:t>
            </a:r>
            <a:br/>
            <a:r>
              <a:t>  - Shadow Boss</a:t>
            </a:r>
            <a:br/>
            <a:br/>
            <a:r>
              <a:t>+ Risk Heat Thresholds</a:t>
            </a:r>
            <a:br/>
            <a:r>
              <a:t>  - Score Range slider</a:t>
            </a:r>
            <a:br/>
            <a:br/>
            <a:r>
              <a:t>+ Database Cache Sync</a:t>
            </a:r>
            <a:br/>
            <a:r>
              <a:t>  - Reload hashes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63040"/>
            <a:ext cx="621792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0" y="3383279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3566159"/>
            <a:ext cx="731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Boss F</a:t>
            </a:r>
          </a:p>
        </p:txBody>
      </p:sp>
      <p:sp>
        <p:nvSpPr>
          <p:cNvPr id="8" name="Oval 7"/>
          <p:cNvSpPr/>
          <p:nvPr/>
        </p:nvSpPr>
        <p:spPr>
          <a:xfrm>
            <a:off x="4274820" y="24460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4820" y="2594610"/>
            <a:ext cx="59436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Mule A</a:t>
            </a:r>
          </a:p>
        </p:txBody>
      </p:sp>
      <p:sp>
        <p:nvSpPr>
          <p:cNvPr id="10" name="Oval 9"/>
          <p:cNvSpPr/>
          <p:nvPr/>
        </p:nvSpPr>
        <p:spPr>
          <a:xfrm>
            <a:off x="4274820" y="445770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4820" y="4606290"/>
            <a:ext cx="59436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Mule B</a:t>
            </a:r>
          </a:p>
        </p:txBody>
      </p:sp>
      <p:sp>
        <p:nvSpPr>
          <p:cNvPr id="12" name="Oval 11"/>
          <p:cNvSpPr/>
          <p:nvPr/>
        </p:nvSpPr>
        <p:spPr>
          <a:xfrm>
            <a:off x="7200899" y="2446020"/>
            <a:ext cx="594360" cy="5943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899" y="2594610"/>
            <a:ext cx="59436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Proxy C</a:t>
            </a:r>
          </a:p>
        </p:txBody>
      </p:sp>
      <p:sp>
        <p:nvSpPr>
          <p:cNvPr id="14" name="Oval 13"/>
          <p:cNvSpPr/>
          <p:nvPr/>
        </p:nvSpPr>
        <p:spPr>
          <a:xfrm>
            <a:off x="7200899" y="44577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899" y="4606290"/>
            <a:ext cx="59436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Safe 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916936"/>
            <a:ext cx="658368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5400000">
            <a:off x="5596128" y="2880360"/>
            <a:ext cx="73152" cy="91440"/>
          </a:xfrm>
          <a:prstGeom prst="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4562856"/>
            <a:ext cx="658368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5596128" y="4526280"/>
            <a:ext cx="73152" cy="91440"/>
          </a:xfrm>
          <a:prstGeom prst="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465576"/>
            <a:ext cx="658368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7059168" y="3429000"/>
            <a:ext cx="73152" cy="91440"/>
          </a:xfrm>
          <a:prstGeom prst="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014216"/>
            <a:ext cx="658368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7059168" y="3977640"/>
            <a:ext cx="73152" cy="91440"/>
          </a:xfrm>
          <a:prstGeom prst="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Trebuchet MS"/>
              </a:defRPr>
            </a:pPr>
            <a:r>
              <a:t>Cytoscape.js Real-time Network Canvas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463040"/>
            <a:ext cx="21031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645920"/>
            <a:ext cx="1920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[ Account Detail Panel ]</a:t>
            </a:r>
            <a:br/>
            <a:br/>
            <a:r>
              <a:t>ID: Acct_Boss_F</a:t>
            </a:r>
            <a:br/>
            <a:r>
              <a:t>Risk: 98.4 (High)</a:t>
            </a:r>
            <a:br/>
            <a:r>
              <a:t>Flag: SHADOW_BOSS</a:t>
            </a:r>
            <a:br/>
            <a:r>
              <a:t>Degree: In=4, Out=1</a:t>
            </a:r>
            <a:br/>
            <a:r>
              <a:t>Volume: $849,200</a:t>
            </a:r>
            <a:br/>
            <a:br/>
            <a:r>
              <a:t>[ AI Narrative Report ]</a:t>
            </a:r>
            <a:br/>
            <a:r>
              <a:t>Google Gemini Flash has compiled a formal 4-part SAR narrative regarding this node loop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PROJECT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Project Vision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Temporal network maps:</a:t>
            </a:r>
            <a:r>
              <a:t> Ingests unstructured transaction histories and converts flat records into a active weighted multi-directed graph representation.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Detect topological rings:</a:t>
            </a:r>
            <a:r>
              <a:t> Employs graph-theoretic traversal algorithms to expose collusive laundering patterns and structured wash rings in memory.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Bridge reporting gap:</a:t>
            </a:r>
            <a:r>
              <a:t> Integrates Google Gemini Large Language Model to interpret mathematical metrics and compile formal compliance narrative reports.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Visual audit dashboard:</a:t>
            </a:r>
            <a:r>
              <a:t> Exposes results on a web-accessible compliance application with physics-based graph rendering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54864" cy="4626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Key Accomplishments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100% Loop Flagging:</a:t>
            </a:r>
            <a:r>
              <a:t> Identifies 100% of cyclic money laundering rings under 6 hops, bypasses standard SQL index limitations.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70% Officer Triage Reduction:</a:t>
            </a:r>
            <a:r>
              <a:t> Cuts down suspicious activity evaluation latency from hours to a few clicks through automated AI-written audit trails.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Zero SQL Join Overhead:</a:t>
            </a:r>
            <a:r>
              <a:t> Traverses paths in-memory at O(V + E) complexity instead of performing expensive relational multi-join operations.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Robust Audit Compliance:</a:t>
            </a:r>
            <a:r>
              <a:t> Delivers structured markdown SAR logs detailing exact transactions, routes, dates, and risk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DOMAIN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The Problem: Relational Database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Trebuchet MS"/>
              </a:defRPr>
            </a:pPr>
            <a:r>
              <a:t>Traditional Relational (SQL) Limits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Recursive Join Latency:</a:t>
            </a:r>
            <a:r>
              <a:t> Tracing a multi-hop transfer flow (A -&gt; B -&gt; C -&gt; D -&gt; E) requires executing multiple recursive self-joins.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Combinatorial Explosion:</a:t>
            </a:r>
            <a:r>
              <a:t> Query latency increases exponentially (O(N^K)) with transaction depth, causing timeouts on millions of records.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Flat Threshold Vulnerabilities:</a:t>
            </a:r>
            <a:r>
              <a:t> Alerts rely on static daily boundaries (e.g. flag &gt; $10k), which launderers easily evade by dividing payments.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90%+ False Positives:</a:t>
            </a:r>
            <a:r>
              <a:t> Flat rules flag normal accounts doing standard business, overwhelming compliance teams with visual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54864" cy="4626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The Graph-Theoretic Solution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In-Memory Traversal:</a:t>
            </a:r>
            <a:r>
              <a:t> Maps accounts to vertices (V) and transactions to edges (E), executing path queries in O(V + E) memory space.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Topological Analytics:</a:t>
            </a:r>
            <a:r>
              <a:t> Directly identifies patterns (cycles, fans, centralities) as native graph properties rather than joined query fields.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Dynamic Threshold Scoring:</a:t>
            </a:r>
            <a:r>
              <a:t> Scores risk based on network shape, local node clustering, and flow patterns instead of isolated sums.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Actionable Visual Insights:</a:t>
            </a:r>
            <a:r>
              <a:t> Renders the surrounding transaction context, allowing human auditors to freeze mule branches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SCOPE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Project Objectives &amp; Key Engineering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110642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10652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Primary Engineering Commitments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High-Performance Ingest:</a:t>
            </a:r>
            <a:r>
              <a:t> Build an active directed graph builder pipeline from standard transaction ledger CSV files.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Four Advanced Heuristic Modules:</a:t>
            </a:r>
            <a:r>
              <a:t> Implement in-memory detectors for Cyclic Wash, Velocity Burst, Round-Trip, and Shadow Boss identification.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AI Forensic Summary:</a:t>
            </a:r>
            <a:r>
              <a:t> Integrate Google Gemini Flash LLM to draft comprehensive Suspicious Activity Reports (SAR) based on data snapshots.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Local Cache Management:</a:t>
            </a:r>
            <a:r>
              <a:t> Deploy SQLite database persistence to sync records and cache generated AI reports for performance.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Glassmorphic Compliance UI:</a:t>
            </a:r>
            <a:r>
              <a:t> Create an interactive React-Cytoscape web dashboard with real-time risk searching, filter tools, and visual layouts.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Bank Audit Standards:</a:t>
            </a:r>
            <a:r>
              <a:t> Ensure all reports match national banking intelligence compliance structures and remain fully audit-ready.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CONTEXT &amp;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Literature Review &amp; Modern AML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2E8F0"/>
                </a:solidFill>
                <a:latin typeface="Trebuchet MS"/>
              </a:defRPr>
            </a:pPr>
            <a:r>
              <a:t>Prior Systems &amp; Machine Learning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Statistical ML Weaknesses:</a:t>
            </a:r>
            <a:r>
              <a:t> Random Forests and classifiers excel at statistical outliers but fail on money laundering patterns.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Mimicked Behavior:</a:t>
            </a:r>
            <a:r>
              <a:t> Laundering accounts are intentionally scripted to mirror standard retail volumes, avoiding ML classification.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Heavy Graph DB Overhead:</a:t>
            </a:r>
            <a:r>
              <a:t> Native graph databases like Neo4j introduce substantial deployment footprint, infrastructure cost, and configuration.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Lack of Explainability:</a:t>
            </a:r>
            <a:r>
              <a:t> Producing raw numerical centralities or cycle lists fails to serve compliance officers who lack data science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54864" cy="4626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The Graph Engine Edge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Topological Science:</a:t>
            </a:r>
            <a:r>
              <a:t> Builds on Savage (2014) research showing laundering flows exhibit highly distinct local clustering and cycles.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Lightweight Architecture:</a:t>
            </a:r>
            <a:r>
              <a:t> Traverses graph in-memory using lightweight Python NetworkX, running locally without native DB setups.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Generative AI Layer:</a:t>
            </a:r>
            <a:r>
              <a:t> Integrates Large Language Models as a forensic narrative bridge, translating metrics into audit-ready legal logs.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Full-Stack Integration:</a:t>
            </a:r>
            <a:r>
              <a:t> Fuses mathematical backend, local DB storage, and responsive WebGL rendering into one unified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System Architecture &amp; End-to-End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554480"/>
            <a:ext cx="192024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  <a:latin typeface="Trebuchet MS"/>
              </a:defRPr>
            </a:pPr>
            <a:r>
              <a:t>1. 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9202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Ledger CSV upload, timestamps cleaned.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Pandas parsing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Date translation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Load to SQLite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956816"/>
            <a:ext cx="201168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670048" y="1920240"/>
            <a:ext cx="73152" cy="9144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192024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  <a:latin typeface="Trebuchet MS"/>
              </a:defRPr>
            </a:pPr>
            <a:r>
              <a:t>2. Graph Builder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468880"/>
            <a:ext cx="19202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Build in-memory Directed Multi-Graph.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NetworkX model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Node properties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Weight mappings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956816"/>
            <a:ext cx="201168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4864608" y="1920240"/>
            <a:ext cx="73152" cy="9144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59" y="1554480"/>
            <a:ext cx="1920240" cy="8229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  <a:latin typeface="Trebuchet MS"/>
              </a:defRPr>
            </a:pPr>
            <a:r>
              <a:t>3. Heuristics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2468880"/>
            <a:ext cx="19202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Parallel search for cycles &amp; peaks.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Cycles (&lt;=6 hops)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Sliding windows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Betweenness calc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7999" y="1956816"/>
            <a:ext cx="201168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7059167" y="1920240"/>
            <a:ext cx="73152" cy="9144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19" y="1554480"/>
            <a:ext cx="192024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  <a:latin typeface="Trebuchet MS"/>
              </a:defRPr>
            </a:pPr>
            <a:r>
              <a:t>4. AI Analyst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19" y="2468880"/>
            <a:ext cx="19202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Insert metrics, call Gemini API.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JSON payload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System prompt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SAR markdown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59" y="1956816"/>
            <a:ext cx="201168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9253727" y="1920240"/>
            <a:ext cx="73152" cy="9144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1554480"/>
            <a:ext cx="192024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  <a:latin typeface="Trebuchet MS"/>
              </a:defRPr>
            </a:pPr>
            <a:r>
              <a:t>5. Dashboard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2468880"/>
            <a:ext cx="19202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React Cytoscape.js visual graph canvas.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WebGL layout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Search / filters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- History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SQLite Database Schema &amp; ORM Model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463040"/>
            <a:ext cx="2377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wrap="square"/>
          <a:lstStyle/>
          <a:p>
            <a:pPr algn="ctr">
              <a:defRPr sz="900">
                <a:solidFill>
                  <a:srgbClr val="334155"/>
                </a:solidFill>
                <a:latin typeface="Courier New"/>
              </a:defRPr>
            </a:pPr>
            <a:r>
              <a:t>id (PK): VARCHAR [Node]</a:t>
            </a:r>
            <a:br/>
            <a:r>
              <a:t>country: VARCHAR(2)</a:t>
            </a:r>
            <a:br/>
            <a:r>
              <a:t>risk_score: FLOAT</a:t>
            </a:r>
            <a:br/>
            <a:r>
              <a:t>created_at: DATETIME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37744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  <a:latin typeface="Courier New"/>
              </a:defRPr>
            </a:pPr>
            <a:r>
              <a:t>accounts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63040"/>
            <a:ext cx="2377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wrap="square"/>
          <a:lstStyle/>
          <a:p>
            <a:pPr algn="ctr">
              <a:defRPr sz="900">
                <a:solidFill>
                  <a:srgbClr val="334155"/>
                </a:solidFill>
                <a:latin typeface="Courier New"/>
              </a:defRPr>
            </a:pPr>
            <a:r>
              <a:t>id (PK): INTEGER (AI)</a:t>
            </a:r>
            <a:br/>
            <a:r>
              <a:t>sender_id (FK): VARCHAR</a:t>
            </a:r>
            <a:br/>
            <a:r>
              <a:t>receiver_id (FK): VARCHAR</a:t>
            </a:r>
            <a:br/>
            <a:r>
              <a:t>amount: FLOAT</a:t>
            </a:r>
            <a:br/>
            <a:r>
              <a:t>timestamp: DATETIME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63040"/>
            <a:ext cx="237744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  <a:latin typeface="Courier New"/>
              </a:defRPr>
            </a:pPr>
            <a:r>
              <a:t>transactions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2377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wrap="square"/>
          <a:lstStyle/>
          <a:p>
            <a:pPr algn="ctr">
              <a:defRPr sz="900">
                <a:solidFill>
                  <a:srgbClr val="334155"/>
                </a:solidFill>
                <a:latin typeface="Courier New"/>
              </a:defRPr>
            </a:pPr>
            <a:r>
              <a:t>id (PK): INTEGER (AI)</a:t>
            </a:r>
            <a:br/>
            <a:r>
              <a:t>account_id (FK): VARCHAR</a:t>
            </a:r>
            <a:br/>
            <a:r>
              <a:t>pattern_type: VARCHAR</a:t>
            </a:r>
            <a:br/>
            <a:r>
              <a:t>score: FLOAT</a:t>
            </a:r>
            <a:br/>
            <a:r>
              <a:t>detected_at: DATETIME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23774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114800"/>
            <a:ext cx="2377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wrap="square"/>
          <a:lstStyle/>
          <a:p>
            <a:pPr algn="ctr">
              <a:defRPr sz="900">
                <a:solidFill>
                  <a:srgbClr val="334155"/>
                </a:solidFill>
                <a:latin typeface="Courier New"/>
              </a:defRPr>
            </a:pPr>
            <a:r>
              <a:t>id (PK): INTEGER (AI)</a:t>
            </a:r>
            <a:br/>
            <a:r>
              <a:t>alert_id (FK): INTEGER</a:t>
            </a:r>
            <a:br/>
            <a:r>
              <a:t>summary: VARCHAR</a:t>
            </a:r>
            <a:br/>
            <a:r>
              <a:t>markdown_text: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114800"/>
            <a:ext cx="237744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  <a:latin typeface="Courier New"/>
              </a:defRPr>
            </a:pPr>
            <a:r>
              <a:t>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185416"/>
            <a:ext cx="932688" cy="182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041648" y="2148840"/>
            <a:ext cx="73152" cy="91440"/>
          </a:xfrm>
          <a:prstGeom prst="triangl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11096" y="3474720"/>
            <a:ext cx="1828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1874520" y="4041648"/>
            <a:ext cx="91440" cy="73152"/>
          </a:xfrm>
          <a:prstGeom prst="triangl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5111496"/>
            <a:ext cx="932688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4041648" y="5074920"/>
            <a:ext cx="73152" cy="91440"/>
          </a:xfrm>
          <a:prstGeom prst="triangl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86016" y="1408176"/>
            <a:ext cx="46634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0" y="1371600"/>
            <a:ext cx="4663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1481328"/>
            <a:ext cx="54864" cy="4626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508760"/>
            <a:ext cx="4251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SQLite Persistence Benefits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Zero Setup Overhead:</a:t>
            </a:r>
            <a:r>
              <a:t> Operates locally as a file-based SQL store, removing complex infrastructure requirements.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Audit Trail Storage:</a:t>
            </a:r>
            <a:r>
              <a:t> Permanently caches heuristics alert logs, providing historical context for compliance investigations.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AI Cost Controls:</a:t>
            </a:r>
            <a:r>
              <a:t> Stores generated markdown text, preventing redundant LLM query calls on duplicate audits.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SQLAlchemy ORM Layer:</a:t>
            </a:r>
            <a:r>
              <a:t> Maps transaction datasets directly to Python engine configurations securely.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GRAPH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Graph-Theoretic Methodology &amp;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Mathematical Modeling of Ledger Flow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Directed Graph G = (V, E):</a:t>
            </a:r>
            <a:r>
              <a:t> Accounts are vertices (V); transactions are edges (E) representing directional transfer.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Weighted Edges W:</a:t>
            </a:r>
            <a:r>
              <a:t> E -&gt; R+: Every edge maps to a positive value representing transaction currency amount.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Temporal Mapping T:</a:t>
            </a:r>
            <a:r>
              <a:t> E -&gt; D: Maps transaction edges to chronological unix epoch times to track sequence.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Degree Distributions:</a:t>
            </a:r>
            <a:r>
              <a:t> Measures flow directions. High out-degree indicates layering distribution; high in-degree indicates fan-in consolidation.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Edge Densities:</a:t>
            </a:r>
            <a:r>
              <a:t> Standard banking clusters have near-zero density. Laundering subgraphs exhibit highly dense local groupings.</a:t>
            </a:r>
          </a:p>
        </p:txBody>
      </p:sp>
      <p:sp>
        <p:nvSpPr>
          <p:cNvPr id="11" name="Oval 10"/>
          <p:cNvSpPr/>
          <p:nvPr/>
        </p:nvSpPr>
        <p:spPr>
          <a:xfrm>
            <a:off x="7383780" y="162306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3780" y="181737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Acct A</a:t>
            </a:r>
          </a:p>
        </p:txBody>
      </p:sp>
      <p:sp>
        <p:nvSpPr>
          <p:cNvPr id="13" name="Oval 12"/>
          <p:cNvSpPr/>
          <p:nvPr/>
        </p:nvSpPr>
        <p:spPr>
          <a:xfrm>
            <a:off x="9852660" y="162306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2660" y="181737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Acct B</a:t>
            </a:r>
          </a:p>
        </p:txBody>
      </p:sp>
      <p:sp>
        <p:nvSpPr>
          <p:cNvPr id="15" name="Oval 14"/>
          <p:cNvSpPr/>
          <p:nvPr/>
        </p:nvSpPr>
        <p:spPr>
          <a:xfrm>
            <a:off x="7383780" y="418338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3780" y="437769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Acct C</a:t>
            </a:r>
          </a:p>
        </p:txBody>
      </p:sp>
      <p:sp>
        <p:nvSpPr>
          <p:cNvPr id="17" name="Oval 16"/>
          <p:cNvSpPr/>
          <p:nvPr/>
        </p:nvSpPr>
        <p:spPr>
          <a:xfrm>
            <a:off x="9852660" y="4183380"/>
            <a:ext cx="777240" cy="7772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2660" y="437769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Boss 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002536"/>
            <a:ext cx="1229868" cy="182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9779508" y="1965960"/>
            <a:ext cx="73152" cy="91440"/>
          </a:xfrm>
          <a:prstGeom prst="triangl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ourier New"/>
              </a:defRPr>
            </a:pPr>
            <a:r>
              <a:t>$50,000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32136" y="2400300"/>
            <a:ext cx="18288" cy="1709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0195560" y="4110228"/>
            <a:ext cx="91440" cy="73152"/>
          </a:xfrm>
          <a:prstGeom prst="triangl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2926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ourier New"/>
              </a:defRPr>
            </a:pPr>
            <a:r>
              <a:t>$49,800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52660" y="4562856"/>
            <a:ext cx="-1376172" cy="182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8476488" y="4526280"/>
            <a:ext cx="73152" cy="91440"/>
          </a:xfrm>
          <a:prstGeom prst="triangl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ourier New"/>
              </a:defRPr>
            </a:pPr>
            <a:r>
              <a:t>$49,500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63256" y="4183380"/>
            <a:ext cx="18288" cy="-1856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7726680" y="2327148"/>
            <a:ext cx="91440" cy="73152"/>
          </a:xfrm>
          <a:prstGeom prst="triangl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926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ourier New"/>
              </a:defRPr>
            </a:pPr>
            <a:r>
              <a:t>$49,300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1896" y="4297680"/>
            <a:ext cx="18288" cy="-20848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8275320" y="2212848"/>
            <a:ext cx="91440" cy="73152"/>
          </a:xfrm>
          <a:prstGeom prst="triangl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291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F4444"/>
                </a:solidFill>
                <a:latin typeface="Courier New"/>
              </a:defRPr>
            </a:pPr>
            <a:r>
              <a:t>$500 (Fee)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548640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334155"/>
                </a:solidFill>
                <a:latin typeface="Segoe UI"/>
              </a:defRPr>
            </a:pPr>
            <a:r>
              <a:t>Green: Normal transaction chain  |  Red: Topological anomaly node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HEURISTIC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Algorithm 1: Cyclic Wash &amp; Circular Laundering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Trebuchet MS"/>
              </a:defRPr>
            </a:pPr>
            <a:r>
              <a:t>Circular Money Trails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Closed Loop Structure:</a:t>
            </a:r>
            <a:r>
              <a:t> Detects money moving in circles (A -&gt; B -&gt; C -&gt; A) designed to generate fake volumes or obscure origins.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Tarjan Cycle Traversal:</a:t>
            </a:r>
            <a:r>
              <a:t> Converts MultiDiGraph to simple DiGraph to locate loops, preventing duplications.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Combinatorial Protection:</a:t>
            </a:r>
            <a:r>
              <a:t> Restricts loop inspections to depth bounds (default = 6 hops) to avoid exponential O(V^K) overhead.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Velocity Verification:</a:t>
            </a:r>
            <a:r>
              <a:t> Validates that circular transactions occur in close succession and values match within 5% limits.</a:t>
            </a:r>
          </a:p>
        </p:txBody>
      </p:sp>
      <p:sp>
        <p:nvSpPr>
          <p:cNvPr id="11" name="Oval 10"/>
          <p:cNvSpPr/>
          <p:nvPr/>
        </p:nvSpPr>
        <p:spPr>
          <a:xfrm>
            <a:off x="8572500" y="1623060"/>
            <a:ext cx="777240" cy="7772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0" y="181737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Acct A</a:t>
            </a:r>
          </a:p>
        </p:txBody>
      </p:sp>
      <p:sp>
        <p:nvSpPr>
          <p:cNvPr id="13" name="Oval 12"/>
          <p:cNvSpPr/>
          <p:nvPr/>
        </p:nvSpPr>
        <p:spPr>
          <a:xfrm>
            <a:off x="7200900" y="3817620"/>
            <a:ext cx="777240" cy="7772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900" y="401193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Acct B</a:t>
            </a:r>
          </a:p>
        </p:txBody>
      </p:sp>
      <p:sp>
        <p:nvSpPr>
          <p:cNvPr id="15" name="Oval 14"/>
          <p:cNvSpPr/>
          <p:nvPr/>
        </p:nvSpPr>
        <p:spPr>
          <a:xfrm>
            <a:off x="9944100" y="3817620"/>
            <a:ext cx="777240" cy="7772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44100" y="401193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Acct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77656" y="2308860"/>
            <a:ext cx="18288" cy="1435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8641080" y="3744468"/>
            <a:ext cx="91440" cy="73152"/>
          </a:xfrm>
          <a:prstGeom prst="triangl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7432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F4444"/>
                </a:solidFill>
                <a:latin typeface="Courier New"/>
              </a:defRPr>
            </a:pPr>
            <a:r>
              <a:t>1. $10,000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4197096"/>
            <a:ext cx="1504188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9870948" y="4160520"/>
            <a:ext cx="73152" cy="91440"/>
          </a:xfrm>
          <a:prstGeom prst="triangl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389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F4444"/>
                </a:solidFill>
                <a:latin typeface="Courier New"/>
              </a:defRPr>
            </a:pPr>
            <a:r>
              <a:t>2. $9,950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94976" y="3817620"/>
            <a:ext cx="18288" cy="-1581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0058400" y="2235708"/>
            <a:ext cx="91440" cy="73152"/>
          </a:xfrm>
          <a:prstGeom prst="triangl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7432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F4444"/>
                </a:solidFill>
                <a:latin typeface="Courier New"/>
              </a:defRPr>
            </a:pPr>
            <a:r>
              <a:t>3. $9,910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5120640"/>
            <a:ext cx="4206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  <a:latin typeface="Trebuchet MS"/>
              </a:defRPr>
            </a:pPr>
            <a:r>
              <a:t>Cyclic Wash Heuristics Triggered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Loop length: 3 hops. Value match: 99.1%.</a:t>
            </a:r>
            <a:br/>
            <a:r>
              <a:t>Risk penalty points: +40 to all participants.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Code Highlight: In-Memory Bounded Cycle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481328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48132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481328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417320"/>
            <a:ext cx="5394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Courier New"/>
              </a:defRPr>
            </a:pPr>
            <a:r>
              <a:t>backend/engine.py (detect_cycles)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64922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def detect_cycles(self):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# Construct directed multigraph from transaction rows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G_multi = nx.from_pandas_edgelist(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self.df, 'sender_id', 'receiver_id', ['amount'],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create_using=nx.MultiDiGraph()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)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# Convert to simple graph for cycle algorithms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G_simple = nx.DiGraph(G_multi)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try: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    # Bounded search avoids combinatorial explosion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cycles = list(nx.simple_cycles(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G_simple, length_bound=FraudConfig.CYCLE_MAX_LENGTH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))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for i, cycle in enumerate(cycles):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if len(cycle) &gt; 2: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            # Count loop completions by looking at edge multigraph counts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edge_counts = [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G_multi.number_of_edges(cycle[j], cycle[(j+1)%len(cycle)])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for j in range(len(cycle))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]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completions = min(edge_counts)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if completions &gt; 0: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pts = completions * FraudConfig.CYCLE_BASE_POINTS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self.assign_points(cycle, pts, 'CYCLE')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except Exception: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1408176"/>
            <a:ext cx="39319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931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80" y="1481328"/>
            <a:ext cx="54864" cy="4626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08760"/>
            <a:ext cx="35204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Trebuchet MS"/>
              </a:defRPr>
            </a:pPr>
            <a:r>
              <a:t>Key Code Mechanics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Lightweight Converter:</a:t>
            </a:r>
            <a:r>
              <a:t> MultiDiGraph tracks multiple transactions; converting to simple DiGraph enables Tarjan cycle detection.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Combinatorial Shield:</a:t>
            </a:r>
            <a:r>
              <a:t> Bounding search by CYCLE_MAX_LENGTH (default = 6) prevents CPU hangs on dense graph components.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Completion Index:</a:t>
            </a:r>
            <a:r>
              <a:t> Computes cycle frequency by checking the bottleneck transaction frequency around the loop.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Unified Risk Scoring:</a:t>
            </a:r>
            <a:r>
              <a:t> Assigns score penalties to all participating vertices, triggering database alert logging.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HEURISTIC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Algorithm 2: Sliding Window Velocity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Trebuchet MS"/>
              </a:defRPr>
            </a:pPr>
            <a:r>
              <a:t>Temporal Sliding Windows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High-Frequency Scripting:</a:t>
            </a:r>
            <a:r>
              <a:t> Flags sudden activity bursts characteristic of automated money-distributing mule programs.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Structured Smurfing:</a:t>
            </a:r>
            <a:r>
              <a:t> Detects structured transactions engineered to stay under national ledger report thresholds.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Epoch Distance:</a:t>
            </a:r>
            <a:r>
              <a:t> Translates timestamps into numeric unix epochs to evaluate chronological proximity in seconds.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Hourly Window Limits:</a:t>
            </a:r>
            <a:r>
              <a:t> Slides window starting at each transaction timestamp; alerts when transactions exceed max frequency limits.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291840"/>
            <a:ext cx="438912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3154680"/>
            <a:ext cx="18288" cy="3017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3154680"/>
            <a:ext cx="18288" cy="3017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3154680"/>
            <a:ext cx="18288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3154680"/>
            <a:ext cx="18288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154680"/>
            <a:ext cx="18288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154680"/>
            <a:ext cx="18288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154680"/>
            <a:ext cx="18288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3154680"/>
            <a:ext cx="18288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3154680"/>
            <a:ext cx="18288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3154680"/>
            <a:ext cx="18288" cy="3017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3154680"/>
            <a:ext cx="18288" cy="3017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3154680"/>
            <a:ext cx="18288" cy="3017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07040" y="3154680"/>
            <a:ext cx="18288" cy="3017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2651760"/>
            <a:ext cx="123444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2651760"/>
            <a:ext cx="27432" cy="1280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2651760"/>
            <a:ext cx="27432" cy="1280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194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97316"/>
                </a:solidFill>
                <a:latin typeface="Trebuchet MS"/>
              </a:defRPr>
            </a:pPr>
            <a:r>
              <a:t>Sliding Window [1-Hour]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1148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Trebuchet MS"/>
              </a:defRPr>
            </a:pPr>
            <a:r>
              <a:t>Velocity Burst Alert Triggered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8 Transactions clustered within 42 minutes.</a:t>
            </a:r>
            <a:br/>
            <a:r>
              <a:t>Account Risk Penalty: +25 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Code Highlight: Sliding Window Velocity Analyzer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481328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48132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481328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417320"/>
            <a:ext cx="5394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Courier New"/>
              </a:defRPr>
            </a:pPr>
            <a:r>
              <a:t>backend/engine.py (detect_velocity_burst)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64922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def detect_velocity_burst(self):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df = self.df.copy()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# Convert dates to epoch integers for numeric window checking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df['ts_epoch'] = df['timestamp'].astype(np.int64) // 10**9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window_sec = FraudConfig.VELOCITY_WINDOW_HOURS * 3600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sender_groups = df.groupby('sender_id')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for sender, group in sender_groups: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times = sorted(group['ts_epoch'].tolist())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    # Inspect sliding window starting at each transaction time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for i, t_start in enumerate(times):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count = sum(1 for t in times[i:] if t - t_start &lt;= window_sec)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if count &gt;= FraudConfig.VELOCITY_MIN_TXN: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self.assign_points([sender], 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               FraudConfig.VELOCITY_POINTS, 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               'VELOCITY_BURST')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self.log_alert_ring(sender, count)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break # Avoid redundant alerts on same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1408176"/>
            <a:ext cx="39319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931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80" y="1481328"/>
            <a:ext cx="54864" cy="4626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08760"/>
            <a:ext cx="35204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Trebuchet MS"/>
              </a:defRPr>
            </a:pPr>
            <a:r>
              <a:t>Key Code Mechanics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Pandas Vectorization:</a:t>
            </a:r>
            <a:r>
              <a:t> Copying ledger columns and vectorizing datetime representations allows parsing 100k rows under 50ms.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Epoch Conversion:</a:t>
            </a:r>
            <a:r>
              <a:t> Dividing date objects into integer epoch counts ensures numeric distance logic.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Group-By Iterators:</a:t>
            </a:r>
            <a:r>
              <a:t> Splitting ledger rows by sender allows analyzing individual historical profiles concurrently.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Window Breaker:</a:t>
            </a:r>
            <a:r>
              <a:t> The break statement prevents multiple alerts on a single sender, cutting database write fatigue.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HEURISTIC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Algorithm 3: Round-Trip Layering &amp; Value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Bidirectional Value Matching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Fake Volume generation:</a:t>
            </a:r>
            <a:r>
              <a:t> Catches fund-layering loops where money is sent A -&gt; B -&gt; A to confuse accounting logs.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Tolerance Boundaries:</a:t>
            </a:r>
            <a:r>
              <a:t> Permits a 5% margin tolerance to account for transactional fees or exchange slippage.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Chronological Sorting:</a:t>
            </a:r>
            <a:r>
              <a:t> Verifies that the return transaction occurs strictly after the initial forward transfer.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Multi-Join Bypass:</a:t>
            </a:r>
            <a:r>
              <a:t> Resolves value matches in O(E) complexity by aggregating pairwise amounts on edge arrays.</a:t>
            </a:r>
          </a:p>
        </p:txBody>
      </p:sp>
      <p:sp>
        <p:nvSpPr>
          <p:cNvPr id="11" name="Oval 10"/>
          <p:cNvSpPr/>
          <p:nvPr/>
        </p:nvSpPr>
        <p:spPr>
          <a:xfrm>
            <a:off x="7109459" y="290322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09459" y="309753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Acct A</a:t>
            </a:r>
          </a:p>
        </p:txBody>
      </p:sp>
      <p:sp>
        <p:nvSpPr>
          <p:cNvPr id="13" name="Oval 12"/>
          <p:cNvSpPr/>
          <p:nvPr/>
        </p:nvSpPr>
        <p:spPr>
          <a:xfrm>
            <a:off x="9852660" y="290322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2660" y="309753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Acct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926080"/>
            <a:ext cx="1463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9601200" y="2880360"/>
            <a:ext cx="73152" cy="109728"/>
          </a:xfrm>
          <a:prstGeom prst="triangl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ourier New"/>
              </a:defRPr>
            </a:pPr>
            <a:r>
              <a:t>Fwd: $25,000</a:t>
            </a:r>
            <a:br/>
            <a:r>
              <a:t>[10:14:22]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657600"/>
            <a:ext cx="1463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8046720" y="3611880"/>
            <a:ext cx="73152" cy="109728"/>
          </a:xfrm>
          <a:prstGeom prst="triangl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794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ourier New"/>
              </a:defRPr>
            </a:pPr>
            <a:r>
              <a:t>Rev: $24,875</a:t>
            </a:r>
            <a:br/>
            <a:r>
              <a:t>[10:19:05]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4846320"/>
            <a:ext cx="3657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Trebuchet MS"/>
              </a:defRPr>
            </a:pPr>
            <a:r>
              <a:t>Round-Trip Pair Alert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Value match ratio: 99.5%.</a:t>
            </a:r>
            <a:br/>
            <a:r>
              <a:t>Interval: 4m 43s. Risk Penalty: +18 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Code Highlight: Bidirectional Flow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481328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48132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481328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417320"/>
            <a:ext cx="5394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Courier New"/>
              </a:defRPr>
            </a:pPr>
            <a:r>
              <a:t>backend/engine.py (detect_round_trips)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64922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def detect_round_trips(self):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# Map (sender, receiver) coordinates to transaction amounts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fwd = {}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for _, row in self.df.iterrows():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key = (str(row['sender_id']), str(row['receiver_id']))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fwd.setdefault(key, []).append(float(row['amount']))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seen = set()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for (a, b), amts_fwd in fwd.items():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    # Check if the reverse edge path exists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if (b, a) in fwd and (a, b) not in seen and (b, a) not in seen: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amts_rev = fwd[(b, a)]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        # Verify if forward and reverse amounts match within 5% tolerance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for af in amts_fwd: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for ar in amts_rev: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if af &gt; 0 and abs(af - ar) / af &lt;= 0.05: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    seen.add((a, b))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    self.assign_points([a, b], 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                       FraudConfig.ROUND_TRIP_POINTS, 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                       'ROUND_TRIP')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    self.log_rt_ring(a, b, af, ar)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            break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1408176"/>
            <a:ext cx="39319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931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80" y="1481328"/>
            <a:ext cx="54864" cy="4626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08760"/>
            <a:ext cx="35204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Key Code Mechanics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Tuple Mapping:</a:t>
            </a:r>
            <a:r>
              <a:t> Compiling directional sender-receiver flows into Python dict tuples provides hash-based O(1) matching checks.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Seen Set Protection:</a:t>
            </a:r>
            <a:r>
              <a:t> Keeping track of mapped edges in the seen set prevents redundant checks on the reverse paths.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Decay Tolerance:</a:t>
            </a:r>
            <a:r>
              <a:t> Dividing amount differences captures launderers who leak value through shell transactional fees.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Relational database bypass:</a:t>
            </a:r>
            <a:r>
              <a:t> Resolves bidirectional lookups in memory, avoiding multi-second database scans.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HEURISTIC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Algorithm 4: Exposing Hidden Orchestrators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Trebuchet MS"/>
              </a:defRPr>
            </a:pPr>
            <a:r>
              <a:t>Shadow Boss Centrality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Hidden Managers:</a:t>
            </a:r>
            <a:r>
              <a:t> Exposes organizers who coordinate laundering syndicates but keep direct account volume low.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Structural Bottleneck:</a:t>
            </a:r>
            <a:r>
              <a:t> Measures betweenness centrality to isolate nodes acting as bridges between mule branches.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PageRank Influx:</a:t>
            </a:r>
            <a:r>
              <a:t> Combines shortest path betweenness scores with PageRank indexes to find final sinks.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Anomaly Flagging:</a:t>
            </a:r>
            <a:r>
              <a:t> Triggers high-risk alert when an account has top 3% centrality scores but low direct transaction frequency.</a:t>
            </a:r>
          </a:p>
        </p:txBody>
      </p:sp>
      <p:sp>
        <p:nvSpPr>
          <p:cNvPr id="11" name="Oval 10"/>
          <p:cNvSpPr/>
          <p:nvPr/>
        </p:nvSpPr>
        <p:spPr>
          <a:xfrm>
            <a:off x="6515100" y="15773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1703070"/>
            <a:ext cx="50292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M1</a:t>
            </a:r>
          </a:p>
        </p:txBody>
      </p:sp>
      <p:sp>
        <p:nvSpPr>
          <p:cNvPr id="13" name="Oval 12"/>
          <p:cNvSpPr/>
          <p:nvPr/>
        </p:nvSpPr>
        <p:spPr>
          <a:xfrm>
            <a:off x="6515100" y="24917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100" y="2617470"/>
            <a:ext cx="50292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M2</a:t>
            </a:r>
          </a:p>
        </p:txBody>
      </p:sp>
      <p:sp>
        <p:nvSpPr>
          <p:cNvPr id="15" name="Oval 14"/>
          <p:cNvSpPr/>
          <p:nvPr/>
        </p:nvSpPr>
        <p:spPr>
          <a:xfrm>
            <a:off x="6515100" y="34061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3531870"/>
            <a:ext cx="50292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M3</a:t>
            </a:r>
          </a:p>
        </p:txBody>
      </p:sp>
      <p:sp>
        <p:nvSpPr>
          <p:cNvPr id="17" name="Oval 16"/>
          <p:cNvSpPr/>
          <p:nvPr/>
        </p:nvSpPr>
        <p:spPr>
          <a:xfrm>
            <a:off x="6515100" y="43205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5100" y="4446270"/>
            <a:ext cx="50292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M4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288036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040380"/>
            <a:ext cx="640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Proxy P1</a:t>
            </a:r>
          </a:p>
        </p:txBody>
      </p:sp>
      <p:sp>
        <p:nvSpPr>
          <p:cNvPr id="21" name="Oval 20"/>
          <p:cNvSpPr/>
          <p:nvPr/>
        </p:nvSpPr>
        <p:spPr>
          <a:xfrm>
            <a:off x="9852660" y="2811780"/>
            <a:ext cx="777240" cy="7772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2660" y="3006090"/>
            <a:ext cx="77724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Boss F</a:t>
            </a:r>
          </a:p>
        </p:txBody>
      </p:sp>
      <p:sp>
        <p:nvSpPr>
          <p:cNvPr id="23" name="Oval 22"/>
          <p:cNvSpPr/>
          <p:nvPr/>
        </p:nvSpPr>
        <p:spPr>
          <a:xfrm>
            <a:off x="10904220" y="4229100"/>
            <a:ext cx="685800" cy="6858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04220" y="4400550"/>
            <a:ext cx="685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1F5F9"/>
                </a:solidFill>
                <a:latin typeface="Trebuchet MS"/>
              </a:defRPr>
            </a:pPr>
            <a:r>
              <a:t>Cayman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23176" y="1920240"/>
            <a:ext cx="18288" cy="9326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7086600" y="2852928"/>
            <a:ext cx="91440" cy="73152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0" y="2642616"/>
            <a:ext cx="886968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8019288" y="2606040"/>
            <a:ext cx="73152" cy="9144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0" y="3557016"/>
            <a:ext cx="886968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8019288" y="3520440"/>
            <a:ext cx="73152" cy="9144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23176" y="4480560"/>
            <a:ext cx="18288" cy="-10789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086600" y="3401568"/>
            <a:ext cx="91440" cy="73152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3191256"/>
            <a:ext cx="1046988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5400000">
            <a:off x="9779508" y="3154680"/>
            <a:ext cx="73152" cy="91440"/>
          </a:xfrm>
          <a:prstGeom prst="triangl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27432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  <a:latin typeface="Courier New"/>
              </a:defRPr>
            </a:pPr>
            <a:r>
              <a:t>$120k (1 Tx)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23576" y="3657600"/>
            <a:ext cx="18288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10287000" y="4224528"/>
            <a:ext cx="91440" cy="73152"/>
          </a:xfrm>
          <a:prstGeom prst="triangl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6560" y="5303520"/>
            <a:ext cx="4206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EF4444"/>
                </a:solidFill>
                <a:latin typeface="Trebuchet MS"/>
              </a:defRPr>
            </a:pPr>
            <a:r>
              <a:t>Topological Bottleneck Node Highlighted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Betweenness centrality: 0.99 (99th percentile).</a:t>
            </a:r>
            <a:br/>
            <a:r>
              <a:t>Ledger transaction frequency: 1 transfer. Alert status: critical.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Code Highlight: Network Betweenness Centrality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481328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48132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481328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417320"/>
            <a:ext cx="5394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Courier New"/>
              </a:defRPr>
            </a:pPr>
            <a:r>
              <a:t>backend/engine.py (generate_ui_payload)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64922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def generate_ui_payload(self):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G = nx.from_pandas_edgelist(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self.df, 'sender_id', 'receiver_id', ['amount', 'timestamp'],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create_using=nx.DiGraph()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)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# Render subgraph representing suspicious nodes &amp; counterparties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nodes_to_render = set(self.suspicious_nodes)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for node in list(nodes_to_render):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nodes_to_render.update(G.neighbors(node))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nodes_to_render.update(G.predecessors(node))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subgraph = G.subgraph(nodes_to_render)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try: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    # Calculate topological betweenness centrality on subgraph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centrality = nx.betweenness_centrality(subgraph)</a:t>
            </a:r>
          </a:p>
          <a:p>
            <a:pPr>
              <a:defRPr sz="800">
                <a:solidFill>
                  <a:srgbClr val="94A3B8"/>
                </a:solidFill>
                <a:latin typeface="Courier New"/>
              </a:defRPr>
            </a:pPr>
            <a:r>
              <a:t>        # Select top 3% threshold index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threshold = sorted(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centrality.values(), reverse=True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)[:max(1, len(centrality)//33)][-1] if centrality else 1.0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except Exception: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centrality, threshold = {}, 1.0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for node in nodes_to_render: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is_boss = centrality.get(node, 0) &gt;= threshold and centrality.get(node, 0) &gt; 0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if is_boss: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self.points[node] += 30 # Apply heavy coordinator risk penalty</a:t>
            </a:r>
          </a:p>
          <a:p>
            <a:pPr>
              <a:defRPr sz="800">
                <a:solidFill>
                  <a:srgbClr val="F1F5F9"/>
                </a:solidFill>
                <a:latin typeface="Courier New"/>
              </a:defRPr>
            </a:pPr>
            <a:r>
              <a:t>            self.node_labels[node].add('SHADOW_BOSS')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1408176"/>
            <a:ext cx="39319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931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80" y="1481328"/>
            <a:ext cx="54864" cy="4626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08760"/>
            <a:ext cx="35204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Trebuchet MS"/>
              </a:defRPr>
            </a:pPr>
            <a:r>
              <a:t>Key Code Mechanics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Dynamic Subgraph:</a:t>
            </a:r>
            <a:r>
              <a:t> Filtering nodes to only rendering-relevant entities avoids computing expensive centralities on the entire global ledger.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Percentile Thresholding:</a:t>
            </a:r>
            <a:r>
              <a:t> Dynamically selecting the top 33rd node slice (3%) automatically scales flags to the ledger shape.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Risk Weighting:</a:t>
            </a:r>
            <a:r>
              <a:t> Assigning a high point penalty (+30) triggers compliance alerts for accounts with near-zero ledger frequency.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Node Label Syncing:</a:t>
            </a:r>
            <a:r>
              <a:t> Adding 'SHADOW_BOSS' text tags feeds frontend Cytoscape renders with visual alert styles.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FORENSIC AI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Forensic AI Integration &amp; Report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Trebuchet MS"/>
              </a:defRPr>
            </a:pPr>
            <a:r>
              <a:t>Generative AI Reporting Layer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Digital Forensic Analyst:</a:t>
            </a:r>
            <a:r>
              <a:t> Translates raw mathematical centralities and loops into compliance-ready narrative reports.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Structured Context Input:</a:t>
            </a:r>
            <a:r>
              <a:t> Gathers flagged node histories, transaction sums, dates, countries, and patterns into JSON structures.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Restricted Prompts:</a:t>
            </a:r>
            <a:r>
              <a:t> Enforces system prompt constraints requiring factual tone, blocking LLM hallucinations.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Local DB Cache Sync:</a:t>
            </a:r>
            <a:r>
              <a:t> Saves returned markdown narratives in SQLite table to avoid redundant Google Gemini API billing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173736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  <a:latin typeface="Trebuchet MS"/>
              </a:defRPr>
            </a:pPr>
            <a:r>
              <a:t>1. Graph Alert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536" y="2011680"/>
            <a:ext cx="18288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680960" y="2286000"/>
            <a:ext cx="91440" cy="73152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Heuristics flag suspicious nodes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359152"/>
            <a:ext cx="173736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  <a:latin typeface="Trebuchet MS"/>
              </a:defRPr>
            </a:pPr>
            <a:r>
              <a:t>2. JSON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536" y="2999232"/>
            <a:ext cx="18288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7680960" y="3273552"/>
            <a:ext cx="91440" cy="73152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4505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Serialize alert metadata &amp;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346704"/>
            <a:ext cx="173736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  <a:latin typeface="Trebuchet MS"/>
              </a:defRPr>
            </a:pPr>
            <a:r>
              <a:t>3. System 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986784"/>
            <a:ext cx="18288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7680960" y="4261104"/>
            <a:ext cx="91440" cy="73152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4381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Format query with banking limits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334256"/>
            <a:ext cx="173736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  <a:latin typeface="Trebuchet MS"/>
              </a:defRPr>
            </a:pPr>
            <a:r>
              <a:t>4. Gemini Flash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7536" y="4974336"/>
            <a:ext cx="18288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7680960" y="5248656"/>
            <a:ext cx="91440" cy="73152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4256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Generate formal legal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5321808"/>
            <a:ext cx="173736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  <a:latin typeface="Trebuchet MS"/>
              </a:defRPr>
            </a:pPr>
            <a:r>
              <a:t>5. Output markdown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4132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Render report in UI sidebar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SYSTEM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Performance Benchmarks &amp; Hashing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Trebuchet MS"/>
                        </a:defRPr>
                      </a:pPr>
                      <a:r>
                        <a:t>Transactions Ledger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Trebuchet MS"/>
                        </a:defRPr>
                      </a:pPr>
                      <a:r>
                        <a:t>Graph Nodes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Trebuchet MS"/>
                        </a:defRPr>
                      </a:pPr>
                      <a:r>
                        <a:t>Traversal Latency (ms)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approx. 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45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approx. 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310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approx. 12,000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1,800 ms (1.8s)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approx. 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Courier New"/>
                        </a:defRPr>
                      </a:pPr>
                      <a:r>
                        <a:t>4,200 ms (4.2s)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85216" y="3968496"/>
            <a:ext cx="5303520" cy="22860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041648"/>
            <a:ext cx="54864" cy="20665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4892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Latency benchmarks details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Hardware specs:</a:t>
            </a:r>
            <a:r>
              <a:t> Run single-threaded python script on Apple M1 Silicon machine with 8GB RAM memory.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Linear complexity scaling:</a:t>
            </a:r>
            <a:r>
              <a:t> Processing curves scale linearly (O(V+E)), preserving browser Cytoscape canvas responsiveness.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81328"/>
            <a:ext cx="54864" cy="4626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System Optimization Frameworks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SHA-256 Ledger Hashing:</a:t>
            </a:r>
            <a:r>
              <a:t> Computes files unique signature upon upload. If ledger hash exists in DB cache logs, bypasses calculations completely (&lt;10ms reload).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Asynchronous Thread Pooling:</a:t>
            </a:r>
            <a:r>
              <a:t> Offloads CPU-intensive cycle searches to python ThreadPoolExecutor pool workers, preventing FastAPI web loop freezes.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Cytoscape Visual Limits:</a:t>
            </a:r>
            <a:r>
              <a:t> Restricts rendered nodes to flagged suspicious accounts and immediate counterparties, cutting canvas WebGL memory overhead.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Process Pool Scaling:</a:t>
            </a:r>
            <a:r>
              <a:t> Switches algorithm execution to ProcessPoolExecutor for massive files exceeding 20,000 transaction rows.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OPERATIONAL FORENSIC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Forensic Case Studies &amp; Simulated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34747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3063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Trebuchet MS"/>
              </a:defRPr>
            </a:pPr>
            <a:r>
              <a:t>Scenario A: Circular Wash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Syndicate web:</a:t>
            </a:r>
            <a:r>
              <a:t> Three offshore entities (A, B, C) registered in distinct banking jurisdictions.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Laundering loop:</a:t>
            </a:r>
            <a:r>
              <a:t> A transfers $500k to B; B routes $500k to C; C sends $498k back to A, repeating 6 times.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Exposed:</a:t>
            </a:r>
            <a:r>
              <a:t> Cyclic wash engine flags 100% of loop participants, identifying decay fee leakages.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408176"/>
            <a:ext cx="34747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81328"/>
            <a:ext cx="54864" cy="4626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08760"/>
            <a:ext cx="3063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Trebuchet MS"/>
              </a:defRPr>
            </a:pPr>
            <a:r>
              <a:t>Scenario B: structured mule Fan-In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Smurfing deposit limits:</a:t>
            </a:r>
            <a:r>
              <a:t> Coordinated mule syndicate using 15 separate accounts.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Layering window:</a:t>
            </a:r>
            <a:r>
              <a:t> Mules deposit sub-reporting limits ($8,000 to $9,500) within tight 6-hour windows.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Exposed:</a:t>
            </a:r>
            <a:r>
              <a:t> Fan-In module groups transfers by receiver, highlighting central target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08176"/>
            <a:ext cx="356616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66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81328"/>
            <a:ext cx="54864" cy="4626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08760"/>
            <a:ext cx="3154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Scenario C: Offshore Shadow Boss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Orchestration mask:</a:t>
            </a:r>
            <a:r>
              <a:t> Organizing controller routes funds offshore using complex proxy chains.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Volume masking:</a:t>
            </a:r>
            <a:r>
              <a:t> Shadow account makes only 2 low-value direct ledger transfers.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Exposed:</a:t>
            </a:r>
            <a:r>
              <a:t> Graph engine flags account via top 99th betweenness centrality, exposing coordinator.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TESTING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System Testing, QA Verification &amp;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Core Testing Architecture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Integrated validation:</a:t>
            </a:r>
            <a:r>
              <a:t> Checks mathematical algorithm correctness and SQL storage consistency.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PyTest harness suite:</a:t>
            </a:r>
            <a:r>
              <a:t> Unit checks, heuristic verification, and REST endpoint integration checks.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88% Test coverage score:</a:t>
            </a:r>
            <a:r>
              <a:t> Zero failing assertions on master build branch.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Synthetic check validations:</a:t>
            </a:r>
            <a:r>
              <a:t> Validates that 100% of generated loops are flagged.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54864" cy="4626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QA Test Execution Modules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1. SQL Database Unit Tests (`backend/test_models.py`):</a:t>
            </a:r>
            <a:r>
              <a:t> Verifies ACID compliance, inserts, updates, and cascading deletes on accounts.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2. Heuristics Assertions:</a:t>
            </a:r>
            <a:r>
              <a:t> Pytest injects synthetic ledger CSV files with pre-built loop patterns to assert that `detect_cycles` flags 100% of them.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3. API Integration Tests:</a:t>
            </a:r>
            <a:r>
              <a:t> Uses FastAPI TestClient to request ledger uploads and assert that visual Cytoscape JSON payload routes return standard `200 OK` codes.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User Manual &amp; Compliance Dashboard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Platform Startup &amp; Ingestion Steps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1. Boot Services:</a:t>
            </a:r>
            <a:r>
              <a:t> Run `python main.py` in the backend folder and `npm run dev` in the React frontend.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2. Launch Portal:</a:t>
            </a:r>
            <a:r>
              <a:t> Navigate browser to workspace address (default `http://localhost:5173`).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3. Import Ledger:</a:t>
            </a:r>
            <a:r>
              <a:t> Open sidebar controls, click 'Upload Ledger', select a financial transactions CSV file.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4. Ingest Cache check:</a:t>
            </a:r>
            <a:r>
              <a:t> If ledger hash exists, graph renders instantly; otherwise backend begins memory traversals.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54864" cy="4626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Trebuchet MS"/>
              </a:defRPr>
            </a:pPr>
            <a:r>
              <a:t>Graph Navigation &amp; AI Reports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1. Interactive Graph Exploration:</a:t>
            </a:r>
            <a:r>
              <a:t> Zoom, pan, and drag nodes. Visual colors denote alerts (Red: Boss, Orange: Loop/Velocity, Green: Safe).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2. Inspector Side panel:</a:t>
            </a:r>
            <a:r>
              <a:t> Click any node to check country of origin, risk scores, and a detailed transaction history table.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3. Generate AI Forensic Report:</a:t>
            </a:r>
            <a:r>
              <a:t> Click 'Generate Report' button to compile metrics and draft Suspected Activity Reports (SAR).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4. Exporting data:</a:t>
            </a:r>
            <a:r>
              <a:t> Download generated SAR narratives in markdown format for legal submissions.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Trebuchet MS"/>
              </a:defRPr>
            </a:pPr>
            <a:r>
              <a:t>Future Enhancements: Migrating to Neo4j &amp; 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29" y="182880"/>
            <a:ext cx="2745705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4864" cy="4626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Native Graph Databases (Neo4j)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Disk-Backed Scaling:</a:t>
            </a:r>
            <a:r>
              <a:t> Native Neo4j migration will bypass memory bounds, permitting analysis on billions of transactions.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Cypher Query Optimization:</a:t>
            </a:r>
            <a:r>
              <a:t> Exposes paths, loops, and clusters using Cypher syntax, optimization path searches.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Graph Data Science (GDS) library:</a:t>
            </a:r>
            <a:r>
              <a:t> Runs parallel implementations of PageRank, Louvain community, and Louvain classification in C++.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Native Multi-Tenancy:</a:t>
            </a:r>
            <a:r>
              <a:t> Supports separating institutional client ledgers into distinct isolated native databases.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08176"/>
            <a:ext cx="530352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54864" cy="4626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Trebuchet MS"/>
              </a:defRPr>
            </a:pPr>
            <a:r>
              <a:t>Streaming Pipelines &amp; GNN AI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Apache Kafka Streaming:</a:t>
            </a:r>
            <a:r>
              <a:t> Feeds ledger updates dynamically in real-time, executing sliding window calculations on active streams.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Graph Neural Networks (GNN):</a:t>
            </a:r>
            <a:r>
              <a:t> Integrates GNN structures using PyTorch Geometric (PyG) or DGL library models.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Adaptive Topologies:</a:t>
            </a:r>
            <a:r>
              <a:t> Training GNNs helps classify fraud shapes that don't match static, hand-written heuristic filters.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Geospatial Risk Mapping:</a:t>
            </a:r>
            <a:r>
              <a:t> Adds 3D interactive mapping coordinates to trace international cross-border laundering loops.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Trebuchet MS"/>
              </a:defRPr>
            </a:pPr>
            <a:r>
              <a:t>CONCLUSION &amp; BIBLIOGRAPHY REFERENCES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Financial Crime Graph Engine Summary and Academic Citations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8096" y="1682496"/>
            <a:ext cx="512064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54864" cy="41696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09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Summary Conclusions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Topological Advantage:</a:t>
            </a:r>
            <a:r>
              <a:t> Graph traversals expose deep, multi-hop laundering chains that are invisible to relational tables.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AI Bridge Integration:</a:t>
            </a:r>
            <a:r>
              <a:t> Large Language Models render mathematical graphs accessible, auto-writing compliance audit logs.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Performance Verification:</a:t>
            </a:r>
            <a:r>
              <a:t> Multi-processing structures and SHA-256 DB caches deliver highly responsive portal speeds.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Modular Pipeline Foundation:</a:t>
            </a:r>
            <a:r>
              <a:t> The project defines a robust sandbox setup ready to scale to streaming engines.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82496"/>
            <a:ext cx="52120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755648"/>
            <a:ext cx="54864" cy="41696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00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Bibliography References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1. Savage, D., et al. (2014). 'Anomaly Detection in Online Social Networks and Financial Graphs.' ACM Computing Surveys, 46(3).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2. Newman, M. E. J. (2018). Networks:</a:t>
            </a:r>
            <a:r>
              <a:t> An Introduction. Oxford University Press.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3. Tarjan, R. E. (1972). 'Depth-First Search and Linear Graph Algorithms.' SIAM Journal on Computing, 1(2).</a:t>
            </a:r>
          </a:p>
          <a:p>
            <a:pPr>
              <a:spcBef>
                <a:spcPts val="5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4. Page, L., et al. (1999). 'The PageRank Citation Ranking:</a:t>
            </a:r>
            <a:r>
              <a:t> Bringing Order to the Web.' Stanford InfoLab Technical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