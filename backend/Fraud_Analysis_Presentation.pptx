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Arial"/>
              </a:defRPr>
            </a:pPr>
            <a:r>
              <a:t>FINANCIAL CRIME GRAPH ENGINE</a:t>
            </a:r>
          </a:p>
          <a:p>
            <a:pPr>
              <a:spcBef>
                <a:spcPts val="1000"/>
              </a:spcBef>
              <a:defRPr sz="2200">
                <a:solidFill>
                  <a:srgbClr val="FFC857"/>
                </a:solidFill>
                <a:latin typeface="Arial"/>
              </a:defRPr>
            </a:pPr>
            <a:r>
              <a:t>Topological Fraud Analysis &amp; Forensic AI Reports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84048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8D2DC"/>
                </a:solidFill>
                <a:latin typeface="Arial"/>
              </a:defRPr>
            </a:pPr>
            <a:r>
              <a:t>Project Team Members:</a:t>
            </a:r>
            <a:br/>
            <a:r>
              <a:t>1. Kiran MB - 24SUUBECS0937 (Core: Fraud analysis)</a:t>
            </a:r>
            <a:br/>
            <a:r>
              <a:t>2. Kiran S Lamani - 24SUUBECS0941</a:t>
            </a:r>
            <a:br/>
            <a:r>
              <a:t>3. Keerthi V Meharwade - 24SUUBECS0927</a:t>
            </a:r>
            <a:br/>
            <a:r>
              <a:t>4. Kiranmayi - 24SUUBECS0943</a:t>
            </a:r>
            <a:br/>
            <a:br/>
            <a:r>
              <a:t>Sanjay Ghodawat University - Department of Computer Science &amp; Engineering</a:t>
            </a:r>
          </a:p>
        </p:txBody>
      </p:sp>
      <p:pic>
        <p:nvPicPr>
          <p:cNvPr id="4" name="Picture 3" descr="snp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5937" y="365760"/>
            <a:ext cx="4118557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C2541"/>
          </a:solidFill>
          <a:ln>
            <a:solidFill>
              <a:srgbClr val="1C25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Executive Summary</a:t>
            </a:r>
          </a:p>
        </p:txBody>
      </p:sp>
      <p:pic>
        <p:nvPicPr>
          <p:cNvPr id="4" name="Picture 3" descr="snp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1669" y="182880"/>
            <a:ext cx="2745705" cy="7315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C2541"/>
                </a:solidFill>
                <a:latin typeface="Arial"/>
              </a:defRPr>
            </a:pPr>
            <a:r>
              <a:t>Project Vision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  Transforms bank databases into interactive temporal network graphs.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  Detects collusive money laundering rings using topological math.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  Bridges the reporting gap using automated generative AI summaries.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  Allows visual auditing via a web-accessible dashboard.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F0F5FA"/>
          </a:solidFill>
          <a:ln>
            <a:solidFill>
              <a:srgbClr val="F0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7830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C2541"/>
                </a:solidFill>
                <a:latin typeface="Arial"/>
              </a:defRPr>
            </a:pPr>
            <a:r>
              <a:t>Key Achievements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  100% detection of cyclic wash loops under 6 hops.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  Reduces compliance officer triage time by over 70%.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  Eliminates SQL database multi-join search latency.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  Combines network analytics with automated SAR text.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C2541"/>
          </a:solidFill>
          <a:ln>
            <a:solidFill>
              <a:srgbClr val="1C25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The Problem: Relational Database Bottlenecks</a:t>
            </a:r>
          </a:p>
        </p:txBody>
      </p:sp>
      <p:pic>
        <p:nvPicPr>
          <p:cNvPr id="4" name="Picture 3" descr="snp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1669" y="182880"/>
            <a:ext cx="2745705" cy="7315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64B4B"/>
                </a:solidFill>
                <a:latin typeface="Arial"/>
              </a:defRPr>
            </a:pPr>
            <a:r>
              <a:t>Relational DB (SQL) Limitations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  Requires expensive recursive self-joins for multi-hop tracing.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  Query latency grows exponentially (O(N^K)) with path depth.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  Rule alerts are restricted to single-account static limits.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  Misses complex, sub-threshold circular fund movements.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F1F8F3"/>
          </a:solidFill>
          <a:ln>
            <a:solidFill>
              <a:srgbClr val="F1F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7830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E7D32"/>
                </a:solidFill>
                <a:latin typeface="Arial"/>
              </a:defRPr>
            </a:pPr>
            <a:r>
              <a:t>The Graph Advantage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  Graph traversal runs in-memory with O(V + E) complexity.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  Nodes (Accounts) &amp; Edges (Transactions) directly represent flow.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  Path tracing works independent of database join constraints.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  Instantly exposes network structures and cluster shapes.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C2541"/>
          </a:solidFill>
          <a:ln>
            <a:solidFill>
              <a:srgbClr val="1C25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Project Objectives &amp; Goals</a:t>
            </a:r>
          </a:p>
        </p:txBody>
      </p:sp>
      <p:pic>
        <p:nvPicPr>
          <p:cNvPr id="4" name="Picture 3" descr="snp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1669" y="182880"/>
            <a:ext cx="2745705" cy="7315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645920"/>
            <a:ext cx="106070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C2541"/>
                </a:solidFill>
                <a:latin typeface="Arial"/>
              </a:defRPr>
            </a:pPr>
            <a:r>
              <a:t>Primary Engineering Deliverables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  Construct a high-performance in-memory MultiDiGraph pipeline from tabular CSV logs.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  Implement four advanced detectors: Cyclic Wash, Velocity Burst, Round-Trip, &amp; Shadow Boss PageRank.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  Create an interactive dashboard with physical layouts to explore transactional relationships.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  Integrate Google Gemini LLM API to compile Suspicious Activity Reports (SAR) in markdown.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  Build local database persistence with SQLAlchemy ORM and SQLite backend.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  Provide compliance teams with a simplified search-and-filter interface to triage risks.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C2541"/>
          </a:solidFill>
          <a:ln>
            <a:solidFill>
              <a:srgbClr val="1C25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System Architecture &amp; Data Flow</a:t>
            </a:r>
          </a:p>
        </p:txBody>
      </p:sp>
      <p:pic>
        <p:nvPicPr>
          <p:cNvPr id="4" name="Picture 3" descr="snp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1669" y="182880"/>
            <a:ext cx="2745705" cy="7315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828800"/>
            <a:ext cx="20116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1737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C2541"/>
                </a:solidFill>
                <a:latin typeface="Arial"/>
              </a:defRPr>
            </a:pPr>
            <a:r>
              <a:t>1. Ingestion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  Upload CSV ledger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  Clean dates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  Load to SQLite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1828800"/>
            <a:ext cx="2011680" cy="4114800"/>
          </a:xfrm>
          <a:prstGeom prst="roundRect">
            <a:avLst/>
          </a:prstGeom>
          <a:solidFill>
            <a:srgbClr val="F0F5FA"/>
          </a:solidFill>
          <a:ln>
            <a:solidFill>
              <a:srgbClr val="F0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63240" y="1965960"/>
            <a:ext cx="1737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C2541"/>
                </a:solidFill>
                <a:latin typeface="Arial"/>
              </a:defRPr>
            </a:pPr>
            <a:r>
              <a:t>2. Graph Builder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  Build directed graph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  Compute weights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  Set timestamp mapping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1828800"/>
            <a:ext cx="20116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57800" y="1965960"/>
            <a:ext cx="1737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C2541"/>
                </a:solidFill>
                <a:latin typeface="Arial"/>
              </a:defRPr>
            </a:pPr>
            <a:r>
              <a:t>3. Heuristics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  Search simple cycles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  Time-window frequency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  Centrality metrics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1828800"/>
            <a:ext cx="2011680" cy="4114800"/>
          </a:xfrm>
          <a:prstGeom prst="roundRect">
            <a:avLst/>
          </a:prstGeom>
          <a:solidFill>
            <a:srgbClr val="F0F5FA"/>
          </a:solidFill>
          <a:ln>
            <a:solidFill>
              <a:srgbClr val="F0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52360" y="1965960"/>
            <a:ext cx="1737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C2541"/>
                </a:solidFill>
                <a:latin typeface="Arial"/>
              </a:defRPr>
            </a:pPr>
            <a:r>
              <a:t>4. AI Analyst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  Compile metrics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  Invoke Gemini API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  Generate SAR markdown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9760" y="1828800"/>
            <a:ext cx="20116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46920" y="1965960"/>
            <a:ext cx="1737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C2541"/>
                </a:solidFill>
                <a:latin typeface="Arial"/>
              </a:defRPr>
            </a:pPr>
            <a:r>
              <a:t>5. Client UI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  Interactive Cytoscape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  Search &amp; filter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  Freeze triggers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C2541"/>
          </a:solidFill>
          <a:ln>
            <a:solidFill>
              <a:srgbClr val="1C25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Technical Stack Details</a:t>
            </a:r>
          </a:p>
        </p:txBody>
      </p:sp>
      <p:pic>
        <p:nvPicPr>
          <p:cNvPr id="4" name="Picture 3" descr="snp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1669" y="182880"/>
            <a:ext cx="2745705" cy="7315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C2541"/>
                </a:solidFill>
                <a:latin typeface="Arial"/>
              </a:defRPr>
            </a:pPr>
            <a:r>
              <a:t>Backend Engine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  FastAPI: High-speed async REST endpoints.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  NetworkX: Dynamic in-memory graph traversals.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  Pandas: Vectorized data wrangling.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  SQLite &amp; SQLAlchemy: ORM metadata database.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F0F5FA"/>
          </a:solidFill>
          <a:ln>
            <a:solidFill>
              <a:srgbClr val="F0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78308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C2541"/>
                </a:solidFill>
                <a:latin typeface="Arial"/>
              </a:defRPr>
            </a:pPr>
            <a:r>
              <a:t>Frontend UI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  React: Dynamic UI components.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  Vite: Ultra-fast hot-reloading dev environment.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  Cytoscape.js: Physics graph rendering engine.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  TailwindCSS: Dark Glassmorphic styling layout.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80" y="178308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C2541"/>
                </a:solidFill>
                <a:latin typeface="Arial"/>
              </a:defRPr>
            </a:pPr>
            <a:r>
              <a:t>AI &amp; Tooling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  Google Gemini LLM: Forensic narrative writer.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  Python-pptx: Automatic slide generators.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  FPDF2: Clean academic PDF compilers.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  PyTest: Heuristic validation framework.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C2541"/>
          </a:solidFill>
          <a:ln>
            <a:solidFill>
              <a:srgbClr val="1C25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Graph-Theoretic Methodology</a:t>
            </a:r>
          </a:p>
        </p:txBody>
      </p:sp>
      <p:pic>
        <p:nvPicPr>
          <p:cNvPr id="4" name="Picture 3" descr="snp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1669" y="182880"/>
            <a:ext cx="2745705" cy="7315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C2541"/>
                </a:solidFill>
                <a:latin typeface="Arial"/>
              </a:defRPr>
            </a:pPr>
            <a:r>
              <a:t>Core Structural Maps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  Nodes (V) represent bank accounts.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  Edges (E) represent transactions.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  Directed Edges (u,v) model money directions.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  Weights (W) represent monetary value.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  Timestamps (T) capture time-dependencies.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F0F5FA"/>
          </a:solidFill>
          <a:ln>
            <a:solidFill>
              <a:srgbClr val="F0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7830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C2541"/>
                </a:solidFill>
                <a:latin typeface="Arial"/>
              </a:defRPr>
            </a:pPr>
            <a:r>
              <a:t>Laundering Identifiers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  High Out/In-Degree imbalance.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  Highly-connected topological sub-graphs.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  Closed circular trails (feedback loops).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  Systemic routing nodes (high betweenness).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C2541"/>
          </a:solidFill>
          <a:ln>
            <a:solidFill>
              <a:srgbClr val="1C25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Algorithm 1: Cyclic Wash Detection</a:t>
            </a:r>
          </a:p>
        </p:txBody>
      </p:sp>
      <p:pic>
        <p:nvPicPr>
          <p:cNvPr id="4" name="Picture 3" descr="snp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1669" y="182880"/>
            <a:ext cx="2745705" cy="7315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C2541"/>
                </a:solidFill>
                <a:latin typeface="Arial"/>
              </a:defRPr>
            </a:pPr>
            <a:r>
              <a:t>Circular Funding Loops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  Tracks funds that return to the starting account (e.g. A-&gt;B-&gt;C-&gt;A).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  Used to create synthetic transaction histories and inflate credit ratings.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  Uses simple cycles detection algorithms.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  Constrains cycle searches to &lt;= 6 hops to maintain O(V+E) performance.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645920"/>
            <a:ext cx="5120640" cy="4389120"/>
          </a:xfrm>
          <a:prstGeom prst="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7830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C857"/>
                </a:solidFill>
                <a:latin typeface="Courier New"/>
              </a:defRPr>
            </a:pPr>
            <a:r>
              <a:t># --- Cyclic Wash Heuristics ---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def detect_cycles(self):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    G_multi = nx.from_pandas_edgelist(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        self.df, 'sender_id', 'receiver_id',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        create_using=nx.MultiDiGraph()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    )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    G_simple = nx.DiGraph(G_multi)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    cycles = nx.simple_cycles(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        G_simple, 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        length_bound=CYCLE_MAX_LENGTH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    )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    for cycle in cycles: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        if len(cycle) &gt; 2: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            self.assign_points(cycle, 10)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C2541"/>
          </a:solidFill>
          <a:ln>
            <a:solidFill>
              <a:srgbClr val="1C25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Code Highlight: Cyclic Wash</a:t>
            </a:r>
          </a:p>
        </p:txBody>
      </p:sp>
      <p:pic>
        <p:nvPicPr>
          <p:cNvPr id="4" name="Picture 3" descr="snp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1669" y="182880"/>
            <a:ext cx="2745705" cy="7315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31520" y="1645920"/>
            <a:ext cx="10607040" cy="4389120"/>
          </a:xfrm>
          <a:prstGeom prst="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C857"/>
                </a:solidFill>
                <a:latin typeface="Courier New"/>
              </a:defRPr>
            </a:pPr>
            <a:r>
              <a:t># --- In-Memory Bounded Cycle Search ---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# In backend/engine.py: detect_cycles()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def detect_cycles(self):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    # Construct directed multigraph to capture duplicate parallel transactions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    G_multi = nx.from_pandas_edgelist(self.df, 'sender_id', 'receiver_id', ['amount'], create_using=nx.MultiDiGraph())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    G_simple = nx.DiGraph(G_multi) # Convert to simple graph for cycle detection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    try: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        # Bounded search prevents combinatorial explosion on dense graphs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        cycles = list(nx.simple_cycles(G_simple, length_bound=FraudConfig.CYCLE_MAX_LENGTH))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        for i, cycle in enumerate(cycles):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            if len(cycle) &gt; 2: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                # Find the minimum transaction frequency around the ring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                edge_counts = [G_multi.number_of_edges(cycle[j], cycle[(j + 1) % len(cycle)]) for j in range(len(cycle))]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                loop_completions = min(edge_counts)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                if loop_completions &gt; 0: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                    pts = loop_completions * FraudConfig.CYCLE_BASE_POINTS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                    self.assign_points(cycle, pts, 'CYCLE')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    except Exception: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        pass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C2541"/>
          </a:solidFill>
          <a:ln>
            <a:solidFill>
              <a:srgbClr val="1C25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Algorithm 2: Velocity Burst Detection</a:t>
            </a:r>
          </a:p>
        </p:txBody>
      </p:sp>
      <p:pic>
        <p:nvPicPr>
          <p:cNvPr id="4" name="Picture 3" descr="snp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1669" y="182880"/>
            <a:ext cx="2745705" cy="7315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C2541"/>
                </a:solidFill>
                <a:latin typeface="Arial"/>
              </a:defRPr>
            </a:pPr>
            <a:r>
              <a:t>Temporal Sliding Windows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  Flags accounts executing a large number of transactions in quick succession.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  Detects automated scripting, card-testing, or rapid mule distribution.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  Constructs a chronological epoch array for each sender.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  Moves a 1-hour window to count transaction frequency.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645920"/>
            <a:ext cx="5120640" cy="4389120"/>
          </a:xfrm>
          <a:prstGeom prst="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7830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C857"/>
                </a:solidFill>
                <a:latin typeface="Courier New"/>
              </a:defRPr>
            </a:pPr>
            <a:r>
              <a:t># --- Sliding Window Velocity Check ---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def detect_velocity(self):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    df['ts_epoch'] = df['timestamp'].astype(np.int64)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    window_sec = VELOCITY_WINDOW_HOURS * 3600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    for sender, gp in df.groupby('sender_id'):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        times = sorted(gp['ts_epoch'].tolist())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        for i, t_start in enumerate(times):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            count = sum(1 for t in times[i:] 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                        if t - t_start &lt;= window_sec)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            if count &gt;= VELOCITY_MIN_TXN: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                self.assign_points(sender, 25)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C2541"/>
          </a:solidFill>
          <a:ln>
            <a:solidFill>
              <a:srgbClr val="1C25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Code Highlight: Velocity Burst</a:t>
            </a:r>
          </a:p>
        </p:txBody>
      </p:sp>
      <p:pic>
        <p:nvPicPr>
          <p:cNvPr id="4" name="Picture 3" descr="snp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1669" y="182880"/>
            <a:ext cx="2745705" cy="7315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31520" y="1645920"/>
            <a:ext cx="10607040" cy="4389120"/>
          </a:xfrm>
          <a:prstGeom prst="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C857"/>
                </a:solidFill>
                <a:latin typeface="Courier New"/>
              </a:defRPr>
            </a:pPr>
            <a:r>
              <a:t># --- Chronological sliding window analyzer ---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# In backend/engine.py: detect_velocity_burst()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def detect_velocity_burst(self):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    df = self.df.copy()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    # Convert timestamps to unix epoch for numerical distance check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    df['ts_epoch'] = df['timestamp'].astype(np.int64) // 10**9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    window_sec = FraudConfig.VELOCITY_WINDOW_HOURS * 3600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    sender_groups = df.groupby('sender_id')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    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    for sender, group in sender_groups: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        times = sorted(group['ts_epoch'].tolist())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        # Apply sliding window starting at each transaction timestamp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        for i, t_start in enumerate(times):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            count = sum(1 for t in times[i:] if t - t_start &lt;= window_sec)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            if count &gt;= FraudConfig.VELOCITY_MIN_TXN: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                self.assign_points([sender], FraudConfig.VELOCITY_POINTS, 'VELOCITY_BURST')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                self.fraud_rings.append({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                    "ring_id": f"VEL_{str(sender)[-4:]}",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                    "pattern_type": f"Velocity Burst ({count} txns/{FraudConfig.VELOCITY_WINDOW_HOURS}h)",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                    "member_count": 1,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                    "nodes": [sender],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                    "score": FraudConfig.VELOCITY_POINTS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                })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                break # One flag per account in this batch is sufficient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C2541"/>
          </a:solidFill>
          <a:ln>
            <a:solidFill>
              <a:srgbClr val="1C25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Algorithm 3: Round-Trip Layering</a:t>
            </a:r>
          </a:p>
        </p:txBody>
      </p:sp>
      <p:pic>
        <p:nvPicPr>
          <p:cNvPr id="4" name="Picture 3" descr="snp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1669" y="182880"/>
            <a:ext cx="2745705" cy="7315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C2541"/>
                </a:solidFill>
                <a:latin typeface="Arial"/>
              </a:defRPr>
            </a:pPr>
            <a:r>
              <a:t>Bidirectional Value Matching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  Flags A -&gt; B -&gt; A transaction chains.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  Detects fake credit building or money returning to source via proxy.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  Allows a small value tolerance (5%) to account for transaction fees.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  Validates that the reverse transfer occurs after the initial forward transfer.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645920"/>
            <a:ext cx="5120640" cy="4389120"/>
          </a:xfrm>
          <a:prstGeom prst="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7830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C857"/>
                </a:solidFill>
                <a:latin typeface="Courier New"/>
              </a:defRPr>
            </a:pPr>
            <a:r>
              <a:t># --- Round-Trip Pair Detector ---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def detect_round_trips(self):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    fwd = {}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    for _, row in self.df.iterrows():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        fwd.setdefault((row.s, row.r), []).append(row.amt)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    for (a, b), fwd_amts in fwd.items():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        if (b, a) in fwd: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            for af in fwd_amts: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                for ar in fwd[(b, a)]: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                    if abs(af - ar)/af &lt;= 0.05: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                        self.assign_points([a,b], 18)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C2541"/>
          </a:solidFill>
          <a:ln>
            <a:solidFill>
              <a:srgbClr val="1C25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Code Highlight: Round-Trip Layering</a:t>
            </a:r>
          </a:p>
        </p:txBody>
      </p:sp>
      <p:pic>
        <p:nvPicPr>
          <p:cNvPr id="4" name="Picture 3" descr="snp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1669" y="182880"/>
            <a:ext cx="2745705" cy="7315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31520" y="1645920"/>
            <a:ext cx="10607040" cy="4389120"/>
          </a:xfrm>
          <a:prstGeom prst="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C857"/>
                </a:solidFill>
                <a:latin typeface="Courier New"/>
              </a:defRPr>
            </a:pPr>
            <a:r>
              <a:t># --- Bidirectional Flow Matching with Fee Leakage Tolerance ---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# In backend/engine.py: detect_round_trips()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def detect_round_trips(self):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    # Map (sender, receiver) to their transaction amounts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    fwd = {}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    for _, row in self.df.iterrows():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        key = (str(row['sender_id']), str(row['receiver_id']))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        fwd.setdefault(key, []).append(float(row['amount']))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    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    seen = set()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    for (a, b), amts_fwd in fwd.items():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        if (b, a) in fwd and (a, b) not in seen and (b, a) not in seen: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            amts_rev = fwd[(b, a)]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            # Verify if forward and reverse amounts match within 5% tolerance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            for af in amts_fwd: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                for ar in amts_rev: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                    if af &gt; 0 and abs(af - ar) / af &lt;= 0.05: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                        seen.add((a, b))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                        self.assign_points([a, b], FraudConfig.ROUND_TRIP_POINTS, 'ROUND_TRIP')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                        self.fraud_rings.append({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                            "ring_id": f"RT_{a[-4:]}_{b[-4:]}",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                            "pattern_type": "Round-Trip Layering",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                            "member_count": 2,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                            "nodes": [a, b],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                            "score": FraudConfig.ROUND_TRIP_POINTS * 2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                        })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                        break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C2541"/>
          </a:solidFill>
          <a:ln>
            <a:solidFill>
              <a:srgbClr val="1C25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Algorithm 4: Shadow Boss Detection</a:t>
            </a:r>
          </a:p>
        </p:txBody>
      </p:sp>
      <p:pic>
        <p:nvPicPr>
          <p:cNvPr id="4" name="Picture 3" descr="snp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1669" y="182880"/>
            <a:ext cx="2745705" cy="7315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C2541"/>
                </a:solidFill>
                <a:latin typeface="Arial"/>
              </a:defRPr>
            </a:pPr>
            <a:r>
              <a:t>Exposing Key Orchestrators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  Shadow bosses act as network brains, rarely sending money directly.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  Traditional threshold systems miss them due to low direct volume.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  Graph Engine flags nodes with high centrality metric scores.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  Filters out high-volume normal hubs using relative degree counts.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645920"/>
            <a:ext cx="5120640" cy="4389120"/>
          </a:xfrm>
          <a:prstGeom prst="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7830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C857"/>
                </a:solidFill>
                <a:latin typeface="Courier New"/>
              </a:defRPr>
            </a:pPr>
            <a:r>
              <a:t># --- Shadow Boss centrality solver ---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def detect_shadow_boss(self):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    sub = G.subgraph(nodes_to_render)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    centrality = nx.betweenness_centrality(sub)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    threshold = sorted(centrality.values())[-5]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    for n in sub.nodes: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        if centrality.get(n, 0) &gt;= threshold: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            # Highlight node as a hidden manager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            self.node_labels[n].add('SHADOW_BOSS')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            self.points[n] +=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C2541"/>
          </a:solidFill>
          <a:ln>
            <a:solidFill>
              <a:srgbClr val="1C25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Code Highlight: Shadow Boss Detection</a:t>
            </a:r>
          </a:p>
        </p:txBody>
      </p:sp>
      <p:pic>
        <p:nvPicPr>
          <p:cNvPr id="4" name="Picture 3" descr="snp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1669" y="182880"/>
            <a:ext cx="2745705" cy="7315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31520" y="1645920"/>
            <a:ext cx="10607040" cy="4389120"/>
          </a:xfrm>
          <a:prstGeom prst="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C857"/>
                </a:solidFill>
                <a:latin typeface="Courier New"/>
              </a:defRPr>
            </a:pPr>
            <a:r>
              <a:t># --- Network Betweenness Centrality Thresholding ---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# In backend/engine.py: generate_ui_payload()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def generate_ui_payload(self):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    G = nx.from_pandas_edgelist(self.df, 'sender_id', 'receiver_id', ['amount', 'timestamp'], create_using=nx.DiGraph())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    # Subgraph contains suspicious nodes + their immediate neighbors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    nodes_to_render = set(self.suspicious_nodes)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    # ... calculates subgraph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    subgraph = G.subgraph(nodes_to_render)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    try: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        # Calculate structural betweenness centrality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        centrality = nx.betweenness_centrality(subgraph)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        # Select top 3% threshold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        threshold = sorted(centrality.values(), reverse=True)[:max(1, len(centrality)//33)][-1] if centrality else 1.0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    except Exception: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        centrality, threshold = {}, 1.0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        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    for node in nodes_to_render: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        is_shadow_boss = centrality.get(node, 0) &gt;= threshold and centrality.get(node, 0) &gt; 0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        if is_shadow_boss: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            self.points[node] += 30 # Apply heavy orchestrator penalty</a:t>
            </a:r>
          </a:p>
          <a:p>
            <a:pPr>
              <a:defRPr sz="950">
                <a:solidFill>
                  <a:srgbClr val="F1F5F9"/>
                </a:solidFill>
                <a:latin typeface="Courier New"/>
              </a:defRPr>
            </a:pPr>
            <a:r>
              <a:t>            self.node_labels[node].add('SHADOW_BOSS')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C2541"/>
          </a:solidFill>
          <a:ln>
            <a:solidFill>
              <a:srgbClr val="1C25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Forensic AI Integration (Gemini LLM)</a:t>
            </a:r>
          </a:p>
        </p:txBody>
      </p:sp>
      <p:pic>
        <p:nvPicPr>
          <p:cNvPr id="4" name="Picture 3" descr="snp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1669" y="182880"/>
            <a:ext cx="2745705" cy="7315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C2541"/>
                </a:solidFill>
                <a:latin typeface="Arial"/>
              </a:defRPr>
            </a:pPr>
            <a:r>
              <a:t>Narrative Generation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  Invokes Google Gemini model using JSON payload metrics.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  Generates a formal markdown Suspicious Activity Report (SAR).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  Explains likely laundering typologies to non-technical auditors.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  Caches reports in SQLite to avoid repeat model invocation costs.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F0F5FA"/>
          </a:solidFill>
          <a:ln>
            <a:solidFill>
              <a:srgbClr val="F0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7830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C2541"/>
                </a:solidFill>
                <a:latin typeface="Arial"/>
              </a:defRPr>
            </a:pPr>
            <a:r>
              <a:t>Prompts and Context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  System instructions enforce a factual, legal tone.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  Input: Alert type, total flow, countries involved, risk score.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  Resulting Sections: Summary, Analysis, Audit Trail, &amp; Action recommendations.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  Prevents AI hallucinations by restricting response to input metrics.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C2541"/>
          </a:solidFill>
          <a:ln>
            <a:solidFill>
              <a:srgbClr val="1C25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Performance &amp; Scaling Optimizations</a:t>
            </a:r>
          </a:p>
        </p:txBody>
      </p:sp>
      <p:pic>
        <p:nvPicPr>
          <p:cNvPr id="4" name="Picture 3" descr="snp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1669" y="182880"/>
            <a:ext cx="2745705" cy="7315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C2541"/>
                </a:solidFill>
                <a:latin typeface="Arial"/>
              </a:defRPr>
            </a:pPr>
            <a:r>
              <a:t>Runtime Benchmarks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  1,000 transactions: 45ms analysis latency.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  10,000 transactions: 310ms analysis latency.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  50,000 transactions: 1.8s analysis latency.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  Handles complex 800-node visual renders under 250ms.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F1F8F3"/>
          </a:solidFill>
          <a:ln>
            <a:solidFill>
              <a:srgbClr val="F1F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7830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E7D32"/>
                </a:solidFill>
                <a:latin typeface="Arial"/>
              </a:defRPr>
            </a:pPr>
            <a:r>
              <a:t>Optimization Frameworks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  SHA-256 ledger hashing bypasses calculations for unchanged files.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  Offloads CPU-intensive graph search to python multiprocessing pools.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  SQLite local cache keeps lookups under 10ms.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  Limits visual graph nodes using neighbor filtering.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C2541"/>
          </a:solidFill>
          <a:ln>
            <a:solidFill>
              <a:srgbClr val="1C25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Real-World Operational Scenarios</a:t>
            </a:r>
          </a:p>
        </p:txBody>
      </p:sp>
      <p:pic>
        <p:nvPicPr>
          <p:cNvPr id="4" name="Picture 3" descr="snp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1669" y="182880"/>
            <a:ext cx="2745705" cy="7315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C2541"/>
                </a:solidFill>
                <a:latin typeface="Arial"/>
              </a:defRPr>
            </a:pPr>
            <a:r>
              <a:t>Shell Corporations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  Detects circular flows between seemingly distinct entities.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  Exposes jurisdiction hops designed to evade national tax audits.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  Identifies artificial credit building schemes.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F0F5FA"/>
          </a:solidFill>
          <a:ln>
            <a:solidFill>
              <a:srgbClr val="F0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78308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C2541"/>
                </a:solidFill>
                <a:latin typeface="Arial"/>
              </a:defRPr>
            </a:pPr>
            <a:r>
              <a:t>Mule Networks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  Uncovers structured deposits coming from many low-value sources.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  Flags fan-in layers that gather funds for offshore transfer.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  Maps account linkages regardless of location tags.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80" y="178308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C2541"/>
                </a:solidFill>
                <a:latin typeface="Arial"/>
              </a:defRPr>
            </a:pPr>
            <a:r>
              <a:t>Asset Tracing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  Traces pathways of stolen funds from source to ultimate destination.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  Highlights key hops where money changes values or currencies.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  Provides exportable node lists for legal freezing.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C2541"/>
          </a:solidFill>
          <a:ln>
            <a:solidFill>
              <a:srgbClr val="1C25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Conclusion &amp; Future Scope</a:t>
            </a:r>
          </a:p>
        </p:txBody>
      </p:sp>
      <p:pic>
        <p:nvPicPr>
          <p:cNvPr id="4" name="Picture 3" descr="snp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1669" y="182880"/>
            <a:ext cx="2745705" cy="7315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C2541"/>
                </a:solidFill>
                <a:latin typeface="Arial"/>
              </a:defRPr>
            </a:pPr>
            <a:r>
              <a:t>Key Conclusions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  Graph analysis reveals laundering patterns invisible to simple tables.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  Parallel execution provides responsive interactive compliance auditing.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  LLM integration bridges raw data with actionable regulatory intelligence.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  The engine creates a scalable model for modern bank safety checks.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F0F5FA"/>
          </a:solidFill>
          <a:ln>
            <a:solidFill>
              <a:srgbClr val="F0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7830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C2541"/>
                </a:solidFill>
                <a:latin typeface="Arial"/>
              </a:defRPr>
            </a:pPr>
            <a:r>
              <a:t>Future Scope (Version 2.0)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  Neo4j: Native graph database migration for disk-backed scaling.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  Apache Kafka: Real-time event stream analysis integrations.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  GNNs: Graph Neural Networks to auto-classify evolving fraud shapes.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  Geospatial: 3D interactive mapping of international transfers.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